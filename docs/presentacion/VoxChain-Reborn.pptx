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Buenas. Todos los que presentamos hoy construimos una blockchain. La pregunta es para qué. VoxChain Reborn no mueve plata: promulga y deroga leyes. La voluntad colectiva se mide en hashes calculados, no en cabezas contadas. Les voy a mostrar cómo funciona, cómo lo desplegamos, cuánto escala y también qué no hace, porque lo medimos.</a:t>
            </a:r>
          </a:p>
          <a:p/>
          <a:p>
            <a:r>
              <a:t>Dato curioso: cada diapositiva de este deck es un bloque. El pie muestra un nonce real que hace que el MD5 empiece con 0000, encadenado al hash de la diapositiva anterior.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idea nace de mejorar Bully: en vez de que gane el de mayor ID, que gane quien demuestra trabajo real. Llevado a una red de gobierno: cualquiera con un par de claves participa, y una ley sale cuando la red invierte el cómputo necesario para sellarla. Tres pasos: proponer, deliberar/minar, sellar. El desafío que se mina es law_id + text_hash + voting_window_id +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Gobernar con PoW tiene consecuencias políticas; en vez de esconderlas las convertimos en reglas. Si derogar costara lo mismo, las leyes durarían lo que tarda la facción contraria en juntar cómputo: por eso n+1, 16 veces más trabajo esperado. Round-robin + cuota (más del 50% de las últimas 10 ventanas cede turno) + cooldown. 8 categorías con agenda por equipo. Deliberación firmada de 120 s. Quórum de mineros vivos.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Pilar 1: kernel MD5 propio en CUDA, sin librerías de caja negra, validado contra md5sum; ~1 MH/s en CPU Python contra 50-200 MH/s en una T4 de Colab. Compilado sm_61 + PTX para correr en la GTX 1060 del k3s y en una T4. Pilar 2: un solo programa worker con 4 modos (standalone, pool-coordinator, pool-worker, pool-auto). Pilar 3: dos clústers federados por internet, GKE y el k3s de la cátedra, por AMQPS con CA propia; OpenTofu, Workload Identity Federation, gitleaks que rompe el 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Tolerancia a fallos en cada nivel. Minero standalone: redundancia tipo Bitcoin. Coordinador del pool: réplica que toma el lease pool:leader en Redis. NCT: heartbeat cada 3 s, lease de 15 s, detección en 12 s; la ventana en curso se pierde a propósito: preferimos perder cómputo a arriesgar un doble sellado. Frase: un sistema cuyo único mecanismo de identidad es la posesión de una clave no puede pedirle al usuario que entregue esa clave.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528.651 → 895.203 → 1.463.233 nonces/s con 1, 2 y 4 mineros. ¿Por qué 2,77x y no 4x? Por el procesador: el mismo minero sin el sistema da 2,27x en esa máquina (i5 de 15 W que baja de 4,2 a 2,6 GHz con los cuatro núcleos). La coordinación no agrega costo medible. Medimos trabajo, no tiempo: el nonce ganador es la cantidad de trabajo hecho. Historia: descartar fragmentos al sellar llevó 3 leyes de 49 s a 2 s. No decir 'escala linealmente': no medimos dónde se satura el coordinador.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Resumo en tres cosas. Uno: el Proof of Work tiene un propósito, y cada requisito de la consigna responde a una regla de gobierno. Dos: está desplegado como en producción: dos clústers, sin llaves estáticas, destruido y recreado dos veces. Tres: está medido, 535 tests, 2,77x de escalado, y sabemos exactamente dónde están sus límites. Cualquier cosa que les haya mostrado la pueden reproducir con un solo comando: ./run.sh demo. Gracias, ¿preguntas?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0" y="-347471"/>
            <a:ext cx="8412480" cy="6729983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327648" y="325526"/>
            <a:ext cx="6729983" cy="5383987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68896" y="998524"/>
            <a:ext cx="5047488" cy="4037990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10144" y="1671523"/>
            <a:ext cx="3364991" cy="2691993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51392" y="2344521"/>
            <a:ext cx="1682495" cy="1345996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926080" y="4389119"/>
            <a:ext cx="6400800" cy="5120640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-2286000" y="4901183"/>
            <a:ext cx="5120640" cy="4096512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-1645920" y="5413248"/>
            <a:ext cx="3840480" cy="3072384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-1005840" y="5925312"/>
            <a:ext cx="2560320" cy="2048256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-365759" y="6437376"/>
            <a:ext cx="1280159" cy="1024127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685800"/>
            <a:ext cx="4480560" cy="347472"/>
          </a:xfrm>
          <a:prstGeom prst="roundRect">
            <a:avLst>
              <a:gd name="adj" fmla="val 50000"/>
            </a:avLst>
          </a:prstGeom>
          <a:solidFill>
            <a:srgbClr val="2B2741"/>
          </a:solidFill>
          <a:ln w="9525">
            <a:solidFill>
              <a:srgbClr val="423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13232" y="827532"/>
            <a:ext cx="68580" cy="68580"/>
          </a:xfrm>
          <a:prstGeom prst="ellipse">
            <a:avLst/>
          </a:prstGeom>
          <a:solidFill>
            <a:srgbClr val="9184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7824" y="685800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 spc="20">
                <a:solidFill>
                  <a:srgbClr val="D2CEFD"/>
                </a:solidFill>
                <a:latin typeface="Inter"/>
              </a:rPr>
              <a:t>Trabajo Final Integrador  ·  SDyPP  ·  UNLu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325880"/>
            <a:ext cx="6766560" cy="2377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8000" b="1" i="0" spc="-200">
                <a:solidFill>
                  <a:srgbClr val="F3F5FE"/>
                </a:solidFill>
                <a:latin typeface="Inter"/>
              </a:rPr>
              <a:t>VOXCHAIN</a:t>
            </a:r>
          </a:p>
          <a:p>
            <a:pPr algn="l">
              <a:lnSpc>
                <a:spcPct val="90000"/>
              </a:lnSpc>
            </a:pPr>
            <a:r>
              <a:rPr sz="8000" b="0" i="0" spc="-200">
                <a:solidFill>
                  <a:srgbClr val="9184D9"/>
                </a:solidFill>
                <a:latin typeface="Inter"/>
              </a:rPr>
              <a:t>REBORN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611880"/>
            <a:ext cx="658368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600" b="0" i="0">
                <a:solidFill>
                  <a:srgbClr val="D2CEFD"/>
                </a:solidFill>
                <a:latin typeface="Inter"/>
              </a:rPr>
              <a:t>El consenso no se cuenta. Se calcula.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297680"/>
            <a:ext cx="603504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CFD3E5"/>
                </a:solidFill>
                <a:latin typeface="Inter"/>
              </a:rPr>
              <a:t>Una blockchain que no mueve plata: </a:t>
            </a:r>
            <a:r>
              <a:rPr sz="1600" b="1" i="0">
                <a:solidFill>
                  <a:srgbClr val="F3F5FE"/>
                </a:solidFill>
                <a:latin typeface="Inter"/>
              </a:rPr>
              <a:t>promulga y deroga leyes. </a:t>
            </a:r>
            <a:r>
              <a:rPr sz="1600" b="0" i="0">
                <a:solidFill>
                  <a:srgbClr val="CFD3E5"/>
                </a:solidFill>
                <a:latin typeface="Inter"/>
              </a:rPr>
              <a:t>La voluntad colectiva se mide en hashes calculados, no en cabezas contadas.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1417320"/>
            <a:ext cx="3977639" cy="3931920"/>
          </a:xfrm>
          <a:prstGeom prst="roundRect">
            <a:avLst>
              <a:gd name="adj" fmla="val 6000"/>
            </a:avLst>
          </a:prstGeom>
          <a:solidFill>
            <a:srgbClr val="1D1F2D"/>
          </a:solidFill>
          <a:ln w="12700">
            <a:solidFill>
              <a:srgbClr val="423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955279" y="17099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 spc="200">
                <a:solidFill>
                  <a:srgbClr val="9184D9"/>
                </a:solidFill>
                <a:latin typeface="Inter"/>
              </a:rPr>
              <a:t>BLOQUE SELLADO</a:t>
            </a:r>
          </a:p>
        </p:txBody>
      </p:sp>
      <p:sp>
        <p:nvSpPr>
          <p:cNvPr id="20" name="Oval 19"/>
          <p:cNvSpPr/>
          <p:nvPr/>
        </p:nvSpPr>
        <p:spPr>
          <a:xfrm>
            <a:off x="10424159" y="1792224"/>
            <a:ext cx="82296" cy="82296"/>
          </a:xfrm>
          <a:prstGeom prst="ellipse">
            <a:avLst/>
          </a:prstGeom>
          <a:solidFill>
            <a:srgbClr val="81C7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561319" y="17099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81C784"/>
                </a:solidFill>
                <a:latin typeface="Inter"/>
              </a:rPr>
              <a:t>vigente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2148840"/>
            <a:ext cx="3337559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1" i="0">
                <a:solidFill>
                  <a:srgbClr val="F3F5FE"/>
                </a:solidFill>
                <a:latin typeface="Inter"/>
              </a:rPr>
              <a:t>Ley 0001 · Promulgada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2606040"/>
            <a:ext cx="3337559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9397AB"/>
                </a:solidFill>
                <a:latin typeface="JetBrains Mono"/>
              </a:rPr>
              <a:t>desafío = law_id + text_hash + window + 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3017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9397AB"/>
                </a:solidFill>
                <a:latin typeface="Inter"/>
              </a:rPr>
              <a:t>hash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3264408"/>
            <a:ext cx="3337559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D2CEFD"/>
                </a:solidFill>
                <a:latin typeface="JetBrains Mono"/>
              </a:rPr>
              <a:t>0000</a:t>
            </a:r>
            <a:r>
              <a:rPr sz="1250" b="0" i="0">
                <a:solidFill>
                  <a:srgbClr val="75798C"/>
                </a:solidFill>
                <a:latin typeface="JetBrains Mono"/>
              </a:rPr>
              <a:t>5f812807a475d3ebed127ad4cd28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55279" y="3977639"/>
            <a:ext cx="3337559" cy="9144"/>
          </a:xfrm>
          <a:prstGeom prst="rect">
            <a:avLst/>
          </a:prstGeom>
          <a:solidFill>
            <a:srgbClr val="3F4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955279" y="4206240"/>
            <a:ext cx="111252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0" i="0">
                <a:solidFill>
                  <a:srgbClr val="F3F5FE"/>
                </a:solidFill>
                <a:latin typeface="JetBrains Mono"/>
              </a:rPr>
              <a:t>n =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4617720"/>
            <a:ext cx="1112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b="0" i="0">
                <a:solidFill>
                  <a:srgbClr val="9397AB"/>
                </a:solidFill>
                <a:latin typeface="Inter"/>
              </a:rPr>
              <a:t>ceros de prefijo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67800" y="4206240"/>
            <a:ext cx="111252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0" i="0">
                <a:solidFill>
                  <a:srgbClr val="F3F5FE"/>
                </a:solidFill>
                <a:latin typeface="JetBrains Mono"/>
              </a:rPr>
              <a:t>4.872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67800" y="4617720"/>
            <a:ext cx="1112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b="0" i="0">
                <a:solidFill>
                  <a:srgbClr val="9397AB"/>
                </a:solidFill>
                <a:latin typeface="Inter"/>
              </a:rPr>
              <a:t>nonce ganador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80320" y="4206240"/>
            <a:ext cx="111252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0" i="0">
                <a:solidFill>
                  <a:srgbClr val="D2CEFD"/>
                </a:solidFill>
                <a:latin typeface="JetBrains Mono"/>
              </a:rPr>
              <a:t>16x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80320" y="4617720"/>
            <a:ext cx="1112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b="0" i="0">
                <a:solidFill>
                  <a:srgbClr val="9397AB"/>
                </a:solidFill>
                <a:latin typeface="Inter"/>
              </a:rPr>
              <a:t>costo de derogar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3367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spc="50">
                <a:solidFill>
                  <a:srgbClr val="75798C"/>
                </a:solidFill>
                <a:latin typeface="Inter"/>
              </a:rPr>
              <a:t>Pilar 1 · Minero CUDA     Pilar 2 · Sistema distribuido     Pilar 3 · Kubernetes en la nube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0" y="-347471"/>
            <a:ext cx="8412480" cy="6729983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327648" y="325526"/>
            <a:ext cx="6729983" cy="5383987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68896" y="998524"/>
            <a:ext cx="5047488" cy="4037990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10144" y="1671523"/>
            <a:ext cx="3364991" cy="2691993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51392" y="2344521"/>
            <a:ext cx="1682495" cy="1345996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926080" y="4389119"/>
            <a:ext cx="6400800" cy="5120640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-2286000" y="4901183"/>
            <a:ext cx="5120640" cy="4096512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-1645920" y="5413248"/>
            <a:ext cx="3840480" cy="3072384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-1005840" y="5925312"/>
            <a:ext cx="2560320" cy="2048256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-365759" y="6437376"/>
            <a:ext cx="1280159" cy="1024127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 spc="220">
                <a:solidFill>
                  <a:srgbClr val="9184D9"/>
                </a:solidFill>
                <a:latin typeface="Inter"/>
              </a:rPr>
              <a:t>01 · LA IDEA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3F5FE"/>
                </a:solidFill>
                <a:latin typeface="Inter"/>
              </a:rPr>
              <a:t>¿Y si el Proof of Work decidiera algo?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737360"/>
            <a:ext cx="7040880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B2B6CA"/>
                </a:solidFill>
                <a:latin typeface="Inter"/>
              </a:rPr>
              <a:t>El algoritmo Bully elige coordinador por el ID más alto: un criterio arbitrario. </a:t>
            </a:r>
            <a:r>
              <a:rPr sz="1600" b="1" i="0">
                <a:solidFill>
                  <a:srgbClr val="F3F5FE"/>
                </a:solidFill>
                <a:latin typeface="Inter"/>
              </a:rPr>
              <a:t>¿Y si ganara quien demuestra esfuerzo real? </a:t>
            </a:r>
            <a:r>
              <a:rPr sz="1600" b="0" i="0">
                <a:solidFill>
                  <a:srgbClr val="B2B6CA"/>
                </a:solidFill>
                <a:latin typeface="Inter"/>
              </a:rPr>
              <a:t>Llevamos esa idea al gobierno: una ley entra en vigencia cuando la red invierte el cómputo para sellarla.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54680"/>
            <a:ext cx="3520440" cy="2514600"/>
          </a:xfrm>
          <a:prstGeom prst="roundRect">
            <a:avLst>
              <a:gd name="adj" fmla="val 6000"/>
            </a:avLst>
          </a:prstGeom>
          <a:solidFill>
            <a:srgbClr val="1D1F2D"/>
          </a:solidFill>
          <a:ln w="9525">
            <a:solidFill>
              <a:srgbClr val="3F4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8680" y="3447288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9184D9"/>
                </a:solidFill>
                <a:latin typeface="JetBrains Mono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25880" y="3602736"/>
            <a:ext cx="1188720" cy="13716"/>
          </a:xfrm>
          <a:prstGeom prst="rect">
            <a:avLst/>
          </a:prstGeom>
          <a:solidFill>
            <a:srgbClr val="5D52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2514600" y="3602736"/>
            <a:ext cx="1234440" cy="13716"/>
          </a:xfrm>
          <a:prstGeom prst="rect">
            <a:avLst/>
          </a:prstGeom>
          <a:solidFill>
            <a:srgbClr val="2B27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68680" y="393192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 i="0">
                <a:solidFill>
                  <a:srgbClr val="F3F5FE"/>
                </a:solidFill>
                <a:latin typeface="Inter"/>
              </a:rPr>
              <a:t>Proponés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480560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B2B6CA"/>
                </a:solidFill>
                <a:latin typeface="Inter"/>
              </a:rPr>
              <a:t>Redactás una ley o elegís una vigente para derogar. La firmás en tu navegador: la clave nunca sale de ahí.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50792" y="4160520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600" b="0" i="0">
                <a:solidFill>
                  <a:srgbClr val="9184D9"/>
                </a:solidFill>
                <a:latin typeface="Inter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59" y="3154680"/>
            <a:ext cx="3520440" cy="2514600"/>
          </a:xfrm>
          <a:prstGeom prst="roundRect">
            <a:avLst>
              <a:gd name="adj" fmla="val 6000"/>
            </a:avLst>
          </a:prstGeom>
          <a:solidFill>
            <a:srgbClr val="1D1F2D"/>
          </a:solidFill>
          <a:ln w="9525">
            <a:solidFill>
              <a:srgbClr val="3F4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1999" y="3447288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9184D9"/>
                </a:solidFill>
                <a:latin typeface="JetBrains Mono"/>
              </a:rPr>
              <a:t>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199" y="3602736"/>
            <a:ext cx="1188720" cy="13716"/>
          </a:xfrm>
          <a:prstGeom prst="rect">
            <a:avLst/>
          </a:prstGeom>
          <a:solidFill>
            <a:srgbClr val="5D52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6217919" y="3602736"/>
            <a:ext cx="1234440" cy="13716"/>
          </a:xfrm>
          <a:prstGeom prst="rect">
            <a:avLst/>
          </a:prstGeom>
          <a:solidFill>
            <a:srgbClr val="2B27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71999" y="393192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 i="0">
                <a:solidFill>
                  <a:srgbClr val="F3F5FE"/>
                </a:solidFill>
                <a:latin typeface="Inter"/>
              </a:rPr>
              <a:t>La red decide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1999" y="4480560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B2B6CA"/>
                </a:solidFill>
                <a:latin typeface="Inter"/>
              </a:rPr>
              <a:t>120 s de deliberación: mineros y equipos responden firmado si la respaldan con su cómputo. El “no” también pesa.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54112" y="4160520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600" b="0" i="0">
                <a:solidFill>
                  <a:srgbClr val="9184D9"/>
                </a:solidFill>
                <a:latin typeface="Inter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55279" y="3154680"/>
            <a:ext cx="3520440" cy="2514600"/>
          </a:xfrm>
          <a:prstGeom prst="roundRect">
            <a:avLst>
              <a:gd name="adj" fmla="val 6000"/>
            </a:avLst>
          </a:prstGeom>
          <a:solidFill>
            <a:srgbClr val="1D1F2D"/>
          </a:solidFill>
          <a:ln w="9525">
            <a:solidFill>
              <a:srgbClr val="423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75319" y="3447288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9184D9"/>
                </a:solidFill>
                <a:latin typeface="JetBrains Mono"/>
              </a:rPr>
              <a:t>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32519" y="3602736"/>
            <a:ext cx="1188720" cy="13716"/>
          </a:xfrm>
          <a:prstGeom prst="rect">
            <a:avLst/>
          </a:prstGeom>
          <a:solidFill>
            <a:srgbClr val="5D52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9921240" y="3602736"/>
            <a:ext cx="1234440" cy="13716"/>
          </a:xfrm>
          <a:prstGeom prst="rect">
            <a:avLst/>
          </a:prstGeom>
          <a:solidFill>
            <a:srgbClr val="2B27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275319" y="393192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 i="0">
                <a:solidFill>
                  <a:srgbClr val="F3F5FE"/>
                </a:solidFill>
                <a:latin typeface="Inter"/>
              </a:rPr>
              <a:t>Queda sellada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19" y="4480560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B2B6CA"/>
                </a:solidFill>
                <a:latin typeface="Inter"/>
              </a:rPr>
              <a:t>El primer nonce válido cierra la ventana y el bloque se encadena al anterior. Nadie puede borrarlo.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1810512"/>
            <a:ext cx="3749039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D2CEFD"/>
                </a:solidFill>
                <a:latin typeface="Inter"/>
              </a:rPr>
              <a:t>“Cumplir la checklist era el piso. Nos propusimos que el sistema </a:t>
            </a:r>
            <a:r>
              <a:rPr sz="1400" b="1" i="1">
                <a:solidFill>
                  <a:srgbClr val="F3F5FE"/>
                </a:solidFill>
                <a:latin typeface="Inter"/>
              </a:rPr>
              <a:t>signifique</a:t>
            </a:r>
            <a:r>
              <a:rPr sz="1400" b="0" i="1">
                <a:solidFill>
                  <a:srgbClr val="D2CEFD"/>
                </a:solidFill>
                <a:latin typeface="Inter"/>
              </a:rPr>
              <a:t> algo.”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3367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b="1" i="0" spc="150">
                <a:solidFill>
                  <a:srgbClr val="9397AB"/>
                </a:solidFill>
                <a:latin typeface="Inter"/>
              </a:rPr>
              <a:t>VOXCHAIN </a:t>
            </a:r>
            <a:r>
              <a:rPr sz="950" b="0" i="0" spc="150">
                <a:solidFill>
                  <a:srgbClr val="9184D9"/>
                </a:solidFill>
                <a:latin typeface="Inter"/>
              </a:rPr>
              <a:t>REBORN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0" y="6336792"/>
            <a:ext cx="597103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50" b="0" i="0">
                <a:solidFill>
                  <a:srgbClr val="75798C"/>
                </a:solidFill>
                <a:latin typeface="JetBrains Mono"/>
              </a:rPr>
              <a:t>bloque 01   ·   nonce 138.717   ·   </a:t>
            </a:r>
            <a:r>
              <a:rPr sz="950" b="1" i="0">
                <a:solidFill>
                  <a:srgbClr val="D2CEFD"/>
                </a:solidFill>
                <a:latin typeface="JetBrains Mono"/>
              </a:rPr>
              <a:t>0000</a:t>
            </a:r>
            <a:r>
              <a:rPr sz="950" b="0" i="0">
                <a:solidFill>
                  <a:srgbClr val="75798C"/>
                </a:solidFill>
                <a:latin typeface="JetBrains Mono"/>
              </a:rPr>
              <a:t>f2c7dcecf903e679…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987551"/>
            <a:ext cx="8046720" cy="6437376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24128" y="1631289"/>
            <a:ext cx="6437376" cy="5149900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19456" y="2275027"/>
            <a:ext cx="4828032" cy="3862425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5" y="2918764"/>
            <a:ext cx="3218688" cy="2574950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89888" y="3562502"/>
            <a:ext cx="1609343" cy="1287475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778240" y="-2157984"/>
            <a:ext cx="5852160" cy="4681728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6" y="-1689811"/>
            <a:ext cx="4681728" cy="3745382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48672" y="-1221638"/>
            <a:ext cx="3511296" cy="2809036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33888" y="-753465"/>
            <a:ext cx="2340864" cy="1872691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19104" y="-285292"/>
            <a:ext cx="1170431" cy="936345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 spc="220">
                <a:solidFill>
                  <a:srgbClr val="9184D9"/>
                </a:solidFill>
                <a:latin typeface="Inter"/>
              </a:rPr>
              <a:t>02 · GOBIERNO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3F5FE"/>
                </a:solidFill>
                <a:latin typeface="Inter"/>
              </a:rPr>
              <a:t>Reglas con mecanismo, no con discurso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874519"/>
            <a:ext cx="3931920" cy="4069080"/>
          </a:xfrm>
          <a:prstGeom prst="roundRect">
            <a:avLst>
              <a:gd name="adj" fmla="val 6000"/>
            </a:avLst>
          </a:prstGeom>
          <a:solidFill>
            <a:srgbClr val="2B2741"/>
          </a:solidFill>
          <a:ln w="12700">
            <a:solidFill>
              <a:srgbClr val="423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21488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 spc="200">
                <a:solidFill>
                  <a:srgbClr val="9184D9"/>
                </a:solidFill>
                <a:latin typeface="Inter"/>
              </a:rPr>
              <a:t>DEROGAR CUESTA MÁS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423160"/>
            <a:ext cx="3474720" cy="1554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200" b="0" i="0" spc="-300">
                <a:solidFill>
                  <a:srgbClr val="D2CEFD"/>
                </a:solidFill>
                <a:latin typeface="Inter"/>
              </a:rPr>
              <a:t>16x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77639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F3F5FE"/>
                </a:solidFill>
                <a:latin typeface="Inter"/>
              </a:rPr>
              <a:t>más trabajo esperado para derogar una ley que para promulgarla.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84632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B2B6CA"/>
                </a:solidFill>
                <a:latin typeface="JetBrains Mono"/>
              </a:rPr>
              <a:t>promulgar  →  n ceros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138928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D2CEFD"/>
                </a:solidFill>
                <a:latin typeface="JetBrains Mono"/>
              </a:rPr>
              <a:t>derogar    →  n+1 ceros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504688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1">
                <a:solidFill>
                  <a:srgbClr val="9397AB"/>
                </a:solidFill>
                <a:latin typeface="Inter"/>
              </a:rPr>
              <a:t>Una decisión de gobierno, no un parámetro de red.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0600" y="1874519"/>
            <a:ext cx="6839712" cy="960120"/>
          </a:xfrm>
          <a:prstGeom prst="roundRect">
            <a:avLst>
              <a:gd name="adj" fmla="val 10000"/>
            </a:avLst>
          </a:prstGeom>
          <a:solidFill>
            <a:srgbClr val="1D1F2D"/>
          </a:solidFill>
          <a:ln w="9525">
            <a:solidFill>
              <a:srgbClr val="3F4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5056632" y="2103120"/>
            <a:ext cx="502920" cy="502920"/>
          </a:xfrm>
          <a:prstGeom prst="roundRect">
            <a:avLst>
              <a:gd name="adj" fmla="val 25000"/>
            </a:avLst>
          </a:prstGeom>
          <a:solidFill>
            <a:srgbClr val="2B2741"/>
          </a:solidFill>
          <a:ln w="9525">
            <a:solidFill>
              <a:srgbClr val="423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56632" y="21031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0" i="0">
                <a:solidFill>
                  <a:srgbClr val="D2CEFD"/>
                </a:solidFill>
                <a:latin typeface="Inter"/>
              </a:rPr>
              <a:t>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2029967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F3F5FE"/>
                </a:solidFill>
                <a:latin typeface="Inter"/>
              </a:rPr>
              <a:t>Nadie monopoliza la agenda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235000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0" i="0">
                <a:solidFill>
                  <a:srgbClr val="B2B6CA"/>
                </a:solidFill>
                <a:latin typeface="Inter"/>
              </a:rPr>
              <a:t>Round-robin por autor, cuota de turnos y cooldown: quien acapara la cola, cede su lugar.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00600" y="2910535"/>
            <a:ext cx="6839712" cy="960120"/>
          </a:xfrm>
          <a:prstGeom prst="roundRect">
            <a:avLst>
              <a:gd name="adj" fmla="val 10000"/>
            </a:avLst>
          </a:prstGeom>
          <a:solidFill>
            <a:srgbClr val="1D1F2D"/>
          </a:solidFill>
          <a:ln w="9525">
            <a:solidFill>
              <a:srgbClr val="3F4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5056632" y="3139135"/>
            <a:ext cx="502920" cy="502920"/>
          </a:xfrm>
          <a:prstGeom prst="roundRect">
            <a:avLst>
              <a:gd name="adj" fmla="val 25000"/>
            </a:avLst>
          </a:prstGeom>
          <a:solidFill>
            <a:srgbClr val="2B2741"/>
          </a:solidFill>
          <a:ln w="9525">
            <a:solidFill>
              <a:srgbClr val="423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056632" y="3139135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0" i="0">
                <a:solidFill>
                  <a:srgbClr val="D2CEFD"/>
                </a:solidFill>
                <a:latin typeface="Inter"/>
              </a:rPr>
              <a:t>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6440" y="3065983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F3F5FE"/>
                </a:solidFill>
                <a:latin typeface="Inter"/>
              </a:rPr>
              <a:t>Los equipos tienen ideología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6440" y="3386023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0" i="0">
                <a:solidFill>
                  <a:srgbClr val="B2B6CA"/>
                </a:solidFill>
                <a:latin typeface="Inter"/>
              </a:rPr>
              <a:t>8 categorías de ley y agenda temática por equipo: los pools son facciones, no infraestructura.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00600" y="3946550"/>
            <a:ext cx="6839712" cy="960120"/>
          </a:xfrm>
          <a:prstGeom prst="roundRect">
            <a:avLst>
              <a:gd name="adj" fmla="val 10000"/>
            </a:avLst>
          </a:prstGeom>
          <a:solidFill>
            <a:srgbClr val="1D1F2D"/>
          </a:solidFill>
          <a:ln w="9525">
            <a:solidFill>
              <a:srgbClr val="3F4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5056632" y="4175150"/>
            <a:ext cx="502920" cy="502920"/>
          </a:xfrm>
          <a:prstGeom prst="roundRect">
            <a:avLst>
              <a:gd name="adj" fmla="val 25000"/>
            </a:avLst>
          </a:prstGeom>
          <a:solidFill>
            <a:srgbClr val="2B2741"/>
          </a:solidFill>
          <a:ln w="9525">
            <a:solidFill>
              <a:srgbClr val="423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056632" y="417515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0" i="0">
                <a:solidFill>
                  <a:srgbClr val="D2CEFD"/>
                </a:solidFill>
                <a:latin typeface="Inter"/>
              </a:rPr>
              <a:t>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4101998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F3F5FE"/>
                </a:solidFill>
                <a:latin typeface="Inter"/>
              </a:rPr>
              <a:t>El “no” también pesa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06440" y="442203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0" i="0">
                <a:solidFill>
                  <a:srgbClr val="B2B6CA"/>
                </a:solidFill>
                <a:latin typeface="Inter"/>
              </a:rPr>
              <a:t>Deliberación de 120 s con respuestas firmadas antes de abrir el minado.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00600" y="4982565"/>
            <a:ext cx="6839712" cy="960120"/>
          </a:xfrm>
          <a:prstGeom prst="roundRect">
            <a:avLst>
              <a:gd name="adj" fmla="val 10000"/>
            </a:avLst>
          </a:prstGeom>
          <a:solidFill>
            <a:srgbClr val="1D1F2D"/>
          </a:solidFill>
          <a:ln w="9525">
            <a:solidFill>
              <a:srgbClr val="3F4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5056632" y="5211165"/>
            <a:ext cx="502920" cy="502920"/>
          </a:xfrm>
          <a:prstGeom prst="roundRect">
            <a:avLst>
              <a:gd name="adj" fmla="val 25000"/>
            </a:avLst>
          </a:prstGeom>
          <a:solidFill>
            <a:srgbClr val="2B2741"/>
          </a:solidFill>
          <a:ln w="9525">
            <a:solidFill>
              <a:srgbClr val="423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056632" y="5211165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0" i="0">
                <a:solidFill>
                  <a:srgbClr val="D2CEFD"/>
                </a:solidFill>
                <a:latin typeface="Inter"/>
              </a:rPr>
              <a:t>◎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06440" y="5138013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F3F5FE"/>
                </a:solidFill>
                <a:latin typeface="Inter"/>
              </a:rPr>
              <a:t>Nadie paga por fallas ajenas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06440" y="5458053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0" i="0">
                <a:solidFill>
                  <a:srgbClr val="B2B6CA"/>
                </a:solidFill>
                <a:latin typeface="Inter"/>
              </a:rPr>
              <a:t>Quórum de mineros vivos antes de abrir la ventana; si no hay red, la ley vuelve a la cola sin penalidad.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3367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b="1" i="0" spc="150">
                <a:solidFill>
                  <a:srgbClr val="9397AB"/>
                </a:solidFill>
                <a:latin typeface="Inter"/>
              </a:rPr>
              <a:t>VOXCHAIN </a:t>
            </a:r>
            <a:r>
              <a:rPr sz="950" b="0" i="0" spc="150">
                <a:solidFill>
                  <a:srgbClr val="9184D9"/>
                </a:solidFill>
                <a:latin typeface="Inter"/>
              </a:rPr>
              <a:t>REBORN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0" y="6336792"/>
            <a:ext cx="597103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50" b="0" i="0">
                <a:solidFill>
                  <a:srgbClr val="75798C"/>
                </a:solidFill>
                <a:latin typeface="JetBrains Mono"/>
              </a:rPr>
              <a:t>bloque 02   ·   nonce 41.776   ·   </a:t>
            </a:r>
            <a:r>
              <a:rPr sz="950" b="1" i="0">
                <a:solidFill>
                  <a:srgbClr val="D2CEFD"/>
                </a:solidFill>
                <a:latin typeface="JetBrains Mono"/>
              </a:rPr>
              <a:t>0000</a:t>
            </a:r>
            <a:r>
              <a:rPr sz="950" b="0" i="0">
                <a:solidFill>
                  <a:srgbClr val="75798C"/>
                </a:solidFill>
                <a:latin typeface="JetBrains Mono"/>
              </a:rPr>
              <a:t>5e552f2f020225cc…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12647" y="2926079"/>
            <a:ext cx="10972800" cy="8778240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709927" y="3803903"/>
            <a:ext cx="8778240" cy="7022592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07208" y="4681728"/>
            <a:ext cx="6583679" cy="5266944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904487" y="5559552"/>
            <a:ext cx="4389120" cy="3511296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01768" y="6437376"/>
            <a:ext cx="2194559" cy="1755647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41448" y="-3474720"/>
            <a:ext cx="7315200" cy="5852160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172968" y="-2889504"/>
            <a:ext cx="5852160" cy="4681728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904487" y="-2304288"/>
            <a:ext cx="4389120" cy="3511296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36008" y="-1719072"/>
            <a:ext cx="2926080" cy="2340864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367528" y="-1133855"/>
            <a:ext cx="1463039" cy="1170431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 spc="220">
                <a:solidFill>
                  <a:srgbClr val="9184D9"/>
                </a:solidFill>
                <a:latin typeface="Inter"/>
              </a:rPr>
              <a:t>03 · ARQUITECTURA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3F5FE"/>
                </a:solidFill>
                <a:latin typeface="Inter"/>
              </a:rPr>
              <a:t>Tres pilares. Un solo sistema.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57276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0" i="0">
                <a:solidFill>
                  <a:srgbClr val="B2B6CA"/>
                </a:solidFill>
                <a:latin typeface="Inter"/>
              </a:rPr>
              <a:t>Del kernel de GPU al clúster en la nube: cada capa construida, desplegada y medida.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94560"/>
            <a:ext cx="3584448" cy="3886200"/>
          </a:xfrm>
          <a:prstGeom prst="roundRect">
            <a:avLst>
              <a:gd name="adj" fmla="val 5000"/>
            </a:avLst>
          </a:prstGeom>
          <a:solidFill>
            <a:srgbClr val="1D1F2D"/>
          </a:solidFill>
          <a:ln w="9525">
            <a:solidFill>
              <a:srgbClr val="3F4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8680" y="2468879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 spc="150">
                <a:solidFill>
                  <a:srgbClr val="9184D9"/>
                </a:solidFill>
                <a:latin typeface="JetBrains Mono"/>
              </a:rPr>
              <a:t>PILAR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743200"/>
            <a:ext cx="2944368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3F5FE"/>
                </a:solidFill>
                <a:latin typeface="Inter"/>
              </a:rPr>
              <a:t>El minero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246120"/>
            <a:ext cx="2944368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800" b="0" i="0" spc="-100">
                <a:solidFill>
                  <a:srgbClr val="D2CEFD"/>
                </a:solidFill>
                <a:latin typeface="Inter"/>
              </a:rPr>
              <a:t>50–200x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886200"/>
            <a:ext cx="294436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9397AB"/>
                </a:solidFill>
                <a:latin typeface="Inter"/>
              </a:rPr>
              <a:t>GPU T4 vs. CPU en Python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4297679"/>
            <a:ext cx="2944368" cy="9144"/>
          </a:xfrm>
          <a:prstGeom prst="rect">
            <a:avLst/>
          </a:prstGeom>
          <a:solidFill>
            <a:srgbClr val="3F4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68680" y="4480560"/>
            <a:ext cx="3035808" cy="1554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9184D9"/>
                </a:solidFill>
                <a:latin typeface="Inter"/>
              </a:rPr>
              <a:t>✓  </a:t>
            </a:r>
            <a:r>
              <a:rPr sz="1250" b="0" i="0">
                <a:solidFill>
                  <a:srgbClr val="CFD3E5"/>
                </a:solidFill>
                <a:latin typeface="Inter"/>
              </a:rPr>
              <a:t>Kernel MD5 propio en CUDA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9184D9"/>
                </a:solidFill>
                <a:latin typeface="Inter"/>
              </a:rPr>
              <a:t>✓  </a:t>
            </a:r>
            <a:r>
              <a:rPr sz="1250" b="0" i="0">
                <a:solidFill>
                  <a:srgbClr val="CFD3E5"/>
                </a:solidFill>
                <a:latin typeface="Inter"/>
              </a:rPr>
              <a:t>Grid-stride con corte global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9184D9"/>
                </a:solidFill>
                <a:latin typeface="Inter"/>
              </a:rPr>
              <a:t>✓  </a:t>
            </a:r>
            <a:r>
              <a:rPr sz="1250" b="0" i="0">
                <a:solidFill>
                  <a:srgbClr val="CFD3E5"/>
                </a:solidFill>
                <a:latin typeface="Inter"/>
              </a:rPr>
              <a:t>Búsqueda por rangos [min, max)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9184D9"/>
                </a:solidFill>
                <a:latin typeface="Inter"/>
              </a:rPr>
              <a:t>✓  </a:t>
            </a:r>
            <a:r>
              <a:rPr sz="1250" b="0" i="0">
                <a:solidFill>
                  <a:srgbClr val="CFD3E5"/>
                </a:solidFill>
                <a:latin typeface="Inter"/>
              </a:rPr>
              <a:t>Fallback automático a CPU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2194560"/>
            <a:ext cx="3584448" cy="3886200"/>
          </a:xfrm>
          <a:prstGeom prst="roundRect">
            <a:avLst>
              <a:gd name="adj" fmla="val 5000"/>
            </a:avLst>
          </a:prstGeom>
          <a:solidFill>
            <a:srgbClr val="1D1F2D"/>
          </a:solidFill>
          <a:ln w="12700">
            <a:solidFill>
              <a:srgbClr val="423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617719" y="2468879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 spc="150">
                <a:solidFill>
                  <a:srgbClr val="9184D9"/>
                </a:solidFill>
                <a:latin typeface="JetBrains Mono"/>
              </a:rPr>
              <a:t>PILAR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19" y="2743200"/>
            <a:ext cx="2944368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3F5FE"/>
                </a:solidFill>
                <a:latin typeface="Inter"/>
              </a:rPr>
              <a:t>El sistema distribuido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19" y="3246120"/>
            <a:ext cx="2944368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800" b="0" i="0" spc="-100">
                <a:solidFill>
                  <a:srgbClr val="D2CEFD"/>
                </a:solidFill>
                <a:latin typeface="Inter"/>
              </a:rPr>
              <a:t>4 modos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19" y="3886200"/>
            <a:ext cx="294436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9397AB"/>
                </a:solidFill>
                <a:latin typeface="Inter"/>
              </a:rPr>
              <a:t>de worker, un solo programa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17719" y="4297679"/>
            <a:ext cx="2944368" cy="9144"/>
          </a:xfrm>
          <a:prstGeom prst="rect">
            <a:avLst/>
          </a:prstGeom>
          <a:solidFill>
            <a:srgbClr val="3F4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617719" y="4480560"/>
            <a:ext cx="3035808" cy="1554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9184D9"/>
                </a:solidFill>
                <a:latin typeface="Inter"/>
              </a:rPr>
              <a:t>✓  </a:t>
            </a:r>
            <a:r>
              <a:rPr sz="1250" b="0" i="0">
                <a:solidFill>
                  <a:srgbClr val="CFD3E5"/>
                </a:solidFill>
                <a:latin typeface="Inter"/>
              </a:rPr>
              <a:t>Pools cooperativos y competitivos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9184D9"/>
                </a:solidFill>
                <a:latin typeface="Inter"/>
              </a:rPr>
              <a:t>✓  </a:t>
            </a:r>
            <a:r>
              <a:rPr sz="1250" b="0" i="0">
                <a:solidFill>
                  <a:srgbClr val="CFD3E5"/>
                </a:solidFill>
                <a:latin typeface="Inter"/>
              </a:rPr>
              <a:t>Failover del NCT por lease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9184D9"/>
                </a:solidFill>
                <a:latin typeface="Inter"/>
              </a:rPr>
              <a:t>✓  </a:t>
            </a:r>
            <a:r>
              <a:rPr sz="1250" b="0" i="0">
                <a:solidFill>
                  <a:srgbClr val="CFD3E5"/>
                </a:solidFill>
                <a:latin typeface="Inter"/>
              </a:rPr>
              <a:t>Sellado atómico: SET NX + Lua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9184D9"/>
                </a:solidFill>
                <a:latin typeface="Inter"/>
              </a:rPr>
              <a:t>✓  </a:t>
            </a:r>
            <a:r>
              <a:rPr sz="1250" b="0" i="0">
                <a:solidFill>
                  <a:srgbClr val="CFD3E5"/>
                </a:solidFill>
                <a:latin typeface="Inter"/>
              </a:rPr>
              <a:t>RabbitMQ · Redis · Angular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19" y="2194560"/>
            <a:ext cx="3584448" cy="3886200"/>
          </a:xfrm>
          <a:prstGeom prst="roundRect">
            <a:avLst>
              <a:gd name="adj" fmla="val 5000"/>
            </a:avLst>
          </a:prstGeom>
          <a:solidFill>
            <a:srgbClr val="1D1F2D"/>
          </a:solidFill>
          <a:ln w="9525">
            <a:solidFill>
              <a:srgbClr val="3F4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366759" y="2468879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 spc="150">
                <a:solidFill>
                  <a:srgbClr val="9184D9"/>
                </a:solidFill>
                <a:latin typeface="JetBrains Mono"/>
              </a:rPr>
              <a:t>PILAR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59" y="2743200"/>
            <a:ext cx="2944368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3F5FE"/>
                </a:solidFill>
                <a:latin typeface="Inter"/>
              </a:rPr>
              <a:t>El despliegue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59" y="3246120"/>
            <a:ext cx="2944368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800" b="0" i="0" spc="-100">
                <a:solidFill>
                  <a:srgbClr val="D2CEFD"/>
                </a:solidFill>
                <a:latin typeface="Inter"/>
              </a:rPr>
              <a:t>2 clústers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59" y="3886200"/>
            <a:ext cx="294436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9397AB"/>
                </a:solidFill>
                <a:latin typeface="Inter"/>
              </a:rPr>
              <a:t>GKE + k3s federados por AMQPS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66759" y="4297679"/>
            <a:ext cx="2944368" cy="9144"/>
          </a:xfrm>
          <a:prstGeom prst="rect">
            <a:avLst/>
          </a:prstGeom>
          <a:solidFill>
            <a:srgbClr val="3F4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366759" y="4480560"/>
            <a:ext cx="3035808" cy="1554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9184D9"/>
                </a:solidFill>
                <a:latin typeface="Inter"/>
              </a:rPr>
              <a:t>✓  </a:t>
            </a:r>
            <a:r>
              <a:rPr sz="1250" b="0" i="0">
                <a:solidFill>
                  <a:srgbClr val="CFD3E5"/>
                </a:solidFill>
                <a:latin typeface="Inter"/>
              </a:rPr>
              <a:t>Infra como código: OpenTofu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9184D9"/>
                </a:solidFill>
                <a:latin typeface="Inter"/>
              </a:rPr>
              <a:t>✓  </a:t>
            </a:r>
            <a:r>
              <a:rPr sz="1250" b="0" i="0">
                <a:solidFill>
                  <a:srgbClr val="CFD3E5"/>
                </a:solidFill>
                <a:latin typeface="Inter"/>
              </a:rPr>
              <a:t>Pipelines sin llaves (WIF)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9184D9"/>
                </a:solidFill>
                <a:latin typeface="Inter"/>
              </a:rPr>
              <a:t>✓  </a:t>
            </a:r>
            <a:r>
              <a:rPr sz="1250" b="0" i="0">
                <a:solidFill>
                  <a:srgbClr val="CFD3E5"/>
                </a:solidFill>
                <a:latin typeface="Inter"/>
              </a:rPr>
              <a:t>Gitleaks en cada push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9184D9"/>
                </a:solidFill>
                <a:latin typeface="Inter"/>
              </a:rPr>
              <a:t>✓  </a:t>
            </a:r>
            <a:r>
              <a:rPr sz="1250" b="0" i="0">
                <a:solidFill>
                  <a:srgbClr val="CFD3E5"/>
                </a:solidFill>
                <a:latin typeface="Inter"/>
              </a:rPr>
              <a:t>HPA · StatefulSets · Grafana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3367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b="1" i="0" spc="150">
                <a:solidFill>
                  <a:srgbClr val="9397AB"/>
                </a:solidFill>
                <a:latin typeface="Inter"/>
              </a:rPr>
              <a:t>VOXCHAIN </a:t>
            </a:r>
            <a:r>
              <a:rPr sz="950" b="0" i="0" spc="150">
                <a:solidFill>
                  <a:srgbClr val="9184D9"/>
                </a:solidFill>
                <a:latin typeface="Inter"/>
              </a:rPr>
              <a:t>REBORN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0" y="6336792"/>
            <a:ext cx="597103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50" b="0" i="0">
                <a:solidFill>
                  <a:srgbClr val="75798C"/>
                </a:solidFill>
                <a:latin typeface="JetBrains Mono"/>
              </a:rPr>
              <a:t>bloque 03   ·   nonce 14.430   ·   </a:t>
            </a:r>
            <a:r>
              <a:rPr sz="950" b="1" i="0">
                <a:solidFill>
                  <a:srgbClr val="D2CEFD"/>
                </a:solidFill>
                <a:latin typeface="JetBrains Mono"/>
              </a:rPr>
              <a:t>0000</a:t>
            </a:r>
            <a:r>
              <a:rPr sz="950" b="0" i="0">
                <a:solidFill>
                  <a:srgbClr val="75798C"/>
                </a:solidFill>
                <a:latin typeface="JetBrains Mono"/>
              </a:rPr>
              <a:t>734f9f0353d58e87…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0" y="-347471"/>
            <a:ext cx="8412480" cy="6729983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327648" y="325526"/>
            <a:ext cx="6729983" cy="5383987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68896" y="998524"/>
            <a:ext cx="5047488" cy="4037990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10144" y="1671523"/>
            <a:ext cx="3364991" cy="2691993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51392" y="2344521"/>
            <a:ext cx="1682495" cy="1345996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926080" y="4389119"/>
            <a:ext cx="6400800" cy="5120640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-2286000" y="4901183"/>
            <a:ext cx="5120640" cy="4096512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-1645920" y="5413248"/>
            <a:ext cx="3840480" cy="3072384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-1005840" y="5925312"/>
            <a:ext cx="2560320" cy="2048256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-365759" y="6437376"/>
            <a:ext cx="1280159" cy="1024127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 spc="220">
                <a:solidFill>
                  <a:srgbClr val="9184D9"/>
                </a:solidFill>
                <a:latin typeface="Inter"/>
              </a:rPr>
              <a:t>04 · CONFIANZA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3F5FE"/>
                </a:solidFill>
                <a:latin typeface="Inter"/>
              </a:rPr>
              <a:t>Diseñado para que algo falle. Y siga andando.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 spc="200">
                <a:solidFill>
                  <a:srgbClr val="9397AB"/>
                </a:solidFill>
                <a:latin typeface="Inter"/>
              </a:rPr>
              <a:t>SI SE CAE…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783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 spc="200">
                <a:solidFill>
                  <a:srgbClr val="9397AB"/>
                </a:solidFill>
                <a:latin typeface="Inter"/>
              </a:rPr>
              <a:t>…PASA ESTO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48840"/>
            <a:ext cx="6675120" cy="603504"/>
          </a:xfrm>
          <a:prstGeom prst="roundRect">
            <a:avLst>
              <a:gd name="adj" fmla="val 15000"/>
            </a:avLst>
          </a:prstGeom>
          <a:solidFill>
            <a:srgbClr val="1D1F2D"/>
          </a:solidFill>
          <a:ln w="9525">
            <a:solidFill>
              <a:srgbClr val="3F4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777240" y="2404872"/>
            <a:ext cx="91440" cy="91440"/>
          </a:xfrm>
          <a:prstGeom prst="ellipse">
            <a:avLst/>
          </a:prstGeom>
          <a:solidFill>
            <a:srgbClr val="E57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05840" y="2148840"/>
            <a:ext cx="20116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50" b="1" i="0">
                <a:solidFill>
                  <a:srgbClr val="F3F5FE"/>
                </a:solidFill>
                <a:latin typeface="Inter"/>
              </a:rPr>
              <a:t>Un minero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2148840"/>
            <a:ext cx="27432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9184D9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2148840"/>
            <a:ext cx="3749039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0" i="0">
                <a:solidFill>
                  <a:srgbClr val="B2B6CA"/>
                </a:solidFill>
                <a:latin typeface="Inter"/>
              </a:rPr>
              <a:t>El resto barre el mismo espacio. Nada se detiene.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862072"/>
            <a:ext cx="6675120" cy="603504"/>
          </a:xfrm>
          <a:prstGeom prst="roundRect">
            <a:avLst>
              <a:gd name="adj" fmla="val 15000"/>
            </a:avLst>
          </a:prstGeom>
          <a:solidFill>
            <a:srgbClr val="1D1F2D"/>
          </a:solidFill>
          <a:ln w="9525">
            <a:solidFill>
              <a:srgbClr val="3F4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777240" y="3118104"/>
            <a:ext cx="91440" cy="91440"/>
          </a:xfrm>
          <a:prstGeom prst="ellipse">
            <a:avLst/>
          </a:prstGeom>
          <a:solidFill>
            <a:srgbClr val="E57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05840" y="2862072"/>
            <a:ext cx="20116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50" b="1" i="0">
                <a:solidFill>
                  <a:srgbClr val="F3F5FE"/>
                </a:solidFill>
                <a:latin typeface="Inter"/>
              </a:rPr>
              <a:t>El coordinador del pool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2862072"/>
            <a:ext cx="27432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9184D9"/>
                </a:solidFill>
                <a:latin typeface="Inter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2862072"/>
            <a:ext cx="3749039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0" i="0">
                <a:solidFill>
                  <a:srgbClr val="B2B6CA"/>
                </a:solidFill>
                <a:latin typeface="Inter"/>
              </a:rPr>
              <a:t>Su réplica toma el lease en Redis y el equipo sigue minando.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575304"/>
            <a:ext cx="6675120" cy="603504"/>
          </a:xfrm>
          <a:prstGeom prst="roundRect">
            <a:avLst>
              <a:gd name="adj" fmla="val 15000"/>
            </a:avLst>
          </a:prstGeom>
          <a:solidFill>
            <a:srgbClr val="1D1F2D"/>
          </a:solidFill>
          <a:ln w="9525">
            <a:solidFill>
              <a:srgbClr val="3F4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777240" y="3831336"/>
            <a:ext cx="91440" cy="91440"/>
          </a:xfrm>
          <a:prstGeom prst="ellipse">
            <a:avLst/>
          </a:prstGeom>
          <a:solidFill>
            <a:srgbClr val="E57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05840" y="3575304"/>
            <a:ext cx="20116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50" b="1" i="0">
                <a:solidFill>
                  <a:srgbClr val="F3F5FE"/>
                </a:solidFill>
                <a:latin typeface="Inter"/>
              </a:rPr>
              <a:t>El coordinador (NCT)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63240" y="3575304"/>
            <a:ext cx="27432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9184D9"/>
                </a:solidFill>
                <a:latin typeface="Inter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3575304"/>
            <a:ext cx="3749039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0" i="0">
                <a:solidFill>
                  <a:srgbClr val="B2B6CA"/>
                </a:solidFill>
                <a:latin typeface="Inter"/>
              </a:rPr>
              <a:t>El standby lo detecta en 12 s y toma el lease atómico.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288536"/>
            <a:ext cx="6675120" cy="603504"/>
          </a:xfrm>
          <a:prstGeom prst="roundRect">
            <a:avLst>
              <a:gd name="adj" fmla="val 15000"/>
            </a:avLst>
          </a:prstGeom>
          <a:solidFill>
            <a:srgbClr val="1D1F2D"/>
          </a:solidFill>
          <a:ln w="9525">
            <a:solidFill>
              <a:srgbClr val="3F4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777240" y="4544568"/>
            <a:ext cx="91440" cy="91440"/>
          </a:xfrm>
          <a:prstGeom prst="ellipse">
            <a:avLst/>
          </a:prstGeom>
          <a:solidFill>
            <a:srgbClr val="E57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05840" y="4288536"/>
            <a:ext cx="20116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50" b="1" i="0">
                <a:solidFill>
                  <a:srgbClr val="F3F5FE"/>
                </a:solidFill>
                <a:latin typeface="Inter"/>
              </a:rPr>
              <a:t>Todos los mineros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63240" y="4288536"/>
            <a:ext cx="27432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9184D9"/>
                </a:solidFill>
                <a:latin typeface="Inter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4288536"/>
            <a:ext cx="3749039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0" i="0">
                <a:solidFill>
                  <a:srgbClr val="B2B6CA"/>
                </a:solidFill>
                <a:latin typeface="Inter"/>
              </a:rPr>
              <a:t>El quórum devuelve la ley a la cola, sin penalidad.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001768"/>
            <a:ext cx="6675120" cy="603504"/>
          </a:xfrm>
          <a:prstGeom prst="roundRect">
            <a:avLst>
              <a:gd name="adj" fmla="val 15000"/>
            </a:avLst>
          </a:prstGeom>
          <a:solidFill>
            <a:srgbClr val="1D1F2D"/>
          </a:solidFill>
          <a:ln w="9525">
            <a:solidFill>
              <a:srgbClr val="3F4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777240" y="5257800"/>
            <a:ext cx="91440" cy="91440"/>
          </a:xfrm>
          <a:prstGeom prst="ellipse">
            <a:avLst/>
          </a:prstGeom>
          <a:solidFill>
            <a:srgbClr val="E57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005840" y="5001768"/>
            <a:ext cx="20116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50" b="1" i="0">
                <a:solidFill>
                  <a:srgbClr val="F3F5FE"/>
                </a:solidFill>
                <a:latin typeface="Inter"/>
              </a:rPr>
              <a:t>Dos nonces a la vez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63240" y="5001768"/>
            <a:ext cx="27432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9184D9"/>
                </a:solidFill>
                <a:latin typeface="Inter"/>
              </a:rP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83280" y="5001768"/>
            <a:ext cx="3749039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0" i="0">
                <a:solidFill>
                  <a:srgbClr val="B2B6CA"/>
                </a:solidFill>
                <a:latin typeface="Inter"/>
              </a:rPr>
              <a:t>SET NX en Redis: gana el primero. Cero doble sellado.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79" y="1783080"/>
            <a:ext cx="4142232" cy="4206240"/>
          </a:xfrm>
          <a:prstGeom prst="roundRect">
            <a:avLst>
              <a:gd name="adj" fmla="val 5000"/>
            </a:avLst>
          </a:prstGeom>
          <a:solidFill>
            <a:srgbClr val="2B2741"/>
          </a:solidFill>
          <a:ln w="12700">
            <a:solidFill>
              <a:srgbClr val="423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818119" y="20574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 spc="200">
                <a:solidFill>
                  <a:srgbClr val="9184D9"/>
                </a:solidFill>
                <a:latin typeface="Inter"/>
              </a:rPr>
              <a:t>IDENTIDAD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18119" y="2377440"/>
            <a:ext cx="3502152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3F5FE"/>
                </a:solidFill>
                <a:latin typeface="Inter"/>
              </a:rPr>
              <a:t>La clave privada nunca sale de tu navegador.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8119" y="3474720"/>
            <a:ext cx="3502152" cy="2377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1" i="0">
                <a:solidFill>
                  <a:srgbClr val="D2CEFD"/>
                </a:solidFill>
                <a:latin typeface="Inter"/>
              </a:rPr>
              <a:t>CryptoKey no extraíble  </a:t>
            </a:r>
            <a:r>
              <a:rPr sz="1250" b="0" i="0">
                <a:solidFill>
                  <a:srgbClr val="CFD3E5"/>
                </a:solidFill>
                <a:latin typeface="Inter"/>
              </a:rPr>
              <a:t>en IndexedDB: la app firma, pero no puede leerla.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1" i="0">
                <a:solidFill>
                  <a:srgbClr val="D2CEFD"/>
                </a:solidFill>
                <a:latin typeface="Inter"/>
              </a:rPr>
              <a:t>CSP estricta  </a:t>
            </a:r>
            <a:r>
              <a:rPr sz="1250" b="0" i="0">
                <a:solidFill>
                  <a:srgbClr val="CFD3E5"/>
                </a:solidFill>
                <a:latin typeface="Inter"/>
              </a:rPr>
              <a:t>sin unsafe-inline, contra XSS.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1" i="0">
                <a:solidFill>
                  <a:srgbClr val="D2CEFD"/>
                </a:solidFill>
                <a:latin typeface="Inter"/>
              </a:rPr>
              <a:t>Firmas de un solo uso  </a:t>
            </a:r>
            <a:r>
              <a:rPr sz="1250" b="0" i="0">
                <a:solidFill>
                  <a:srgbClr val="CFD3E5"/>
                </a:solidFill>
                <a:latin typeface="Inter"/>
              </a:rPr>
              <a:t>acción y recurso dentro del mensaje: no hay replay.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1" i="0">
                <a:solidFill>
                  <a:srgbClr val="D2CEFD"/>
                </a:solidFill>
                <a:latin typeface="Inter"/>
              </a:rPr>
              <a:t>Zero static keys  </a:t>
            </a:r>
            <a:r>
              <a:rPr sz="1250" b="0" i="0">
                <a:solidFill>
                  <a:srgbClr val="CFD3E5"/>
                </a:solidFill>
                <a:latin typeface="Inter"/>
              </a:rPr>
              <a:t>los pipelines se autentican con OIDC, no con llaves.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3367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b="1" i="0" spc="150">
                <a:solidFill>
                  <a:srgbClr val="9397AB"/>
                </a:solidFill>
                <a:latin typeface="Inter"/>
              </a:rPr>
              <a:t>VOXCHAIN </a:t>
            </a:r>
            <a:r>
              <a:rPr sz="950" b="0" i="0" spc="150">
                <a:solidFill>
                  <a:srgbClr val="9184D9"/>
                </a:solidFill>
                <a:latin typeface="Inter"/>
              </a:rPr>
              <a:t>REBORN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0" y="6336792"/>
            <a:ext cx="597103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50" b="0" i="0">
                <a:solidFill>
                  <a:srgbClr val="75798C"/>
                </a:solidFill>
                <a:latin typeface="JetBrains Mono"/>
              </a:rPr>
              <a:t>bloque 04   ·   nonce 712   ·   </a:t>
            </a:r>
            <a:r>
              <a:rPr sz="950" b="1" i="0">
                <a:solidFill>
                  <a:srgbClr val="D2CEFD"/>
                </a:solidFill>
                <a:latin typeface="JetBrains Mono"/>
              </a:rPr>
              <a:t>0000</a:t>
            </a:r>
            <a:r>
              <a:rPr sz="950" b="0" i="0">
                <a:solidFill>
                  <a:srgbClr val="75798C"/>
                </a:solidFill>
                <a:latin typeface="JetBrains Mono"/>
              </a:rPr>
              <a:t>176e2d061b1628d2…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987551"/>
            <a:ext cx="8046720" cy="6437376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24128" y="1631289"/>
            <a:ext cx="6437376" cy="5149900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19456" y="2275027"/>
            <a:ext cx="4828032" cy="3862425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5" y="2918764"/>
            <a:ext cx="3218688" cy="2574950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89888" y="3562502"/>
            <a:ext cx="1609343" cy="1287475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778240" y="-2157984"/>
            <a:ext cx="5852160" cy="4681728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6" y="-1689811"/>
            <a:ext cx="4681728" cy="3745382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48672" y="-1221638"/>
            <a:ext cx="3511296" cy="2809036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33888" y="-753465"/>
            <a:ext cx="2340864" cy="1872691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19104" y="-285292"/>
            <a:ext cx="1170431" cy="936345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 spc="220">
                <a:solidFill>
                  <a:srgbClr val="9184D9"/>
                </a:solidFill>
                <a:latin typeface="Inter"/>
              </a:rPr>
              <a:t>05 · EVIDENCIA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3F5FE"/>
                </a:solidFill>
                <a:latin typeface="Inter"/>
              </a:rPr>
              <a:t>No vendemos adjetivos. Mostramos números.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783080"/>
            <a:ext cx="6309360" cy="4206240"/>
          </a:xfrm>
          <a:prstGeom prst="roundRect">
            <a:avLst>
              <a:gd name="adj" fmla="val 4000"/>
            </a:avLst>
          </a:prstGeom>
          <a:solidFill>
            <a:srgbClr val="1D1F2D"/>
          </a:solidFill>
          <a:ln w="9525">
            <a:solidFill>
              <a:srgbClr val="3F4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2039112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F3F5FE"/>
                </a:solidFill>
                <a:latin typeface="Inter"/>
              </a:rPr>
              <a:t>Speedup al sumar mineros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350008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9397AB"/>
                </a:solidFill>
                <a:latin typeface="Inter"/>
              </a:rPr>
              <a:t>VoxChain vs. el mismo minero sin el sistema, en el mismo hardware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2770632"/>
            <a:ext cx="109728" cy="109728"/>
          </a:xfrm>
          <a:prstGeom prst="ellipse">
            <a:avLst/>
          </a:prstGeom>
          <a:solidFill>
            <a:srgbClr val="9184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51560" y="2688336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CFD3E5"/>
                </a:solidFill>
                <a:latin typeface="Inter"/>
              </a:rPr>
              <a:t>VoxChain (pool)</a:t>
            </a:r>
          </a:p>
        </p:txBody>
      </p:sp>
      <p:sp>
        <p:nvSpPr>
          <p:cNvPr id="19" name="Oval 18"/>
          <p:cNvSpPr/>
          <p:nvPr/>
        </p:nvSpPr>
        <p:spPr>
          <a:xfrm>
            <a:off x="2560320" y="2770632"/>
            <a:ext cx="109728" cy="109728"/>
          </a:xfrm>
          <a:prstGeom prst="ellipse">
            <a:avLst/>
          </a:prstGeom>
          <a:solidFill>
            <a:srgbClr val="757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743200" y="268833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CFD3E5"/>
                </a:solidFill>
                <a:latin typeface="Inter"/>
              </a:rPr>
              <a:t>techo del hardware (control)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53312" y="4663440"/>
            <a:ext cx="566928" cy="777240"/>
          </a:xfrm>
          <a:prstGeom prst="rect">
            <a:avLst/>
          </a:prstGeom>
          <a:solidFill>
            <a:srgbClr val="9184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170432" y="4352544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50" b="1" i="0">
                <a:solidFill>
                  <a:srgbClr val="D2CEFD"/>
                </a:solidFill>
                <a:latin typeface="JetBrains Mono"/>
              </a:rPr>
              <a:t>1,00x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4663440"/>
            <a:ext cx="566928" cy="777240"/>
          </a:xfrm>
          <a:prstGeom prst="rect">
            <a:avLst/>
          </a:prstGeom>
          <a:solidFill>
            <a:srgbClr val="3F4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828800" y="4352544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0" i="0">
                <a:solidFill>
                  <a:srgbClr val="B2B6CA"/>
                </a:solidFill>
                <a:latin typeface="JetBrains Mono"/>
              </a:rPr>
              <a:t>1,00x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532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0" i="0">
                <a:solidFill>
                  <a:srgbClr val="B2B6CA"/>
                </a:solidFill>
                <a:latin typeface="Inter"/>
              </a:rPr>
              <a:t>1 minero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82112" y="4127144"/>
            <a:ext cx="566928" cy="1313535"/>
          </a:xfrm>
          <a:prstGeom prst="rect">
            <a:avLst/>
          </a:prstGeom>
          <a:solidFill>
            <a:srgbClr val="9184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999232" y="3816248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50" b="1" i="0">
                <a:solidFill>
                  <a:srgbClr val="D2CEFD"/>
                </a:solidFill>
                <a:latin typeface="JetBrains Mono"/>
              </a:rPr>
              <a:t>1,69x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0" y="4181551"/>
            <a:ext cx="566928" cy="1259128"/>
          </a:xfrm>
          <a:prstGeom prst="rect">
            <a:avLst/>
          </a:prstGeom>
          <a:solidFill>
            <a:srgbClr val="3F4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657600" y="3870655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0" i="0">
                <a:solidFill>
                  <a:srgbClr val="B2B6CA"/>
                </a:solidFill>
                <a:latin typeface="JetBrains Mono"/>
              </a:rPr>
              <a:t>1,62x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5532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0" i="0">
                <a:solidFill>
                  <a:srgbClr val="B2B6CA"/>
                </a:solidFill>
                <a:latin typeface="Inter"/>
              </a:rPr>
              <a:t>2 mineros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10912" y="3287725"/>
            <a:ext cx="566928" cy="2152954"/>
          </a:xfrm>
          <a:prstGeom prst="rect">
            <a:avLst/>
          </a:prstGeom>
          <a:solidFill>
            <a:srgbClr val="9184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828032" y="2976829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50" b="1" i="0">
                <a:solidFill>
                  <a:srgbClr val="D2CEFD"/>
                </a:solidFill>
                <a:latin typeface="JetBrains Mono"/>
              </a:rPr>
              <a:t>2,77x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0" y="3676345"/>
            <a:ext cx="566928" cy="1764334"/>
          </a:xfrm>
          <a:prstGeom prst="rect">
            <a:avLst/>
          </a:prstGeom>
          <a:solidFill>
            <a:srgbClr val="3F4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486400" y="3365449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0" i="0">
                <a:solidFill>
                  <a:srgbClr val="B2B6CA"/>
                </a:solidFill>
                <a:latin typeface="JetBrains Mono"/>
              </a:rPr>
              <a:t>2,27x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5532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0" i="0">
                <a:solidFill>
                  <a:srgbClr val="B2B6CA"/>
                </a:solidFill>
                <a:latin typeface="Inter"/>
              </a:rPr>
              <a:t>4 mineros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" y="5440680"/>
            <a:ext cx="5577840" cy="10972"/>
          </a:xfrm>
          <a:prstGeom prst="rect">
            <a:avLst/>
          </a:prstGeom>
          <a:solidFill>
            <a:srgbClr val="757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7086600" y="1783080"/>
            <a:ext cx="2231136" cy="2011680"/>
          </a:xfrm>
          <a:prstGeom prst="roundRect">
            <a:avLst>
              <a:gd name="adj" fmla="val 6000"/>
            </a:avLst>
          </a:prstGeom>
          <a:solidFill>
            <a:srgbClr val="1D1F2D"/>
          </a:solidFill>
          <a:ln w="9525">
            <a:solidFill>
              <a:srgbClr val="3F4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42631" y="2057400"/>
            <a:ext cx="1865376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000" b="0" i="0" spc="-100">
                <a:solidFill>
                  <a:srgbClr val="F3F5FE"/>
                </a:solidFill>
                <a:latin typeface="Inter"/>
              </a:rPr>
              <a:t>535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42631" y="2788920"/>
            <a:ext cx="181965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b="1" i="0" spc="120">
                <a:solidFill>
                  <a:srgbClr val="9184D9"/>
                </a:solidFill>
                <a:latin typeface="Inter"/>
              </a:rPr>
              <a:t>TESTS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2631" y="3081528"/>
            <a:ext cx="1819656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2B6CA"/>
                </a:solidFill>
                <a:latin typeface="Inter"/>
              </a:rPr>
              <a:t>unitarios y de integración extremo a extremo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500616" y="1783080"/>
            <a:ext cx="2231136" cy="2011680"/>
          </a:xfrm>
          <a:prstGeom prst="roundRect">
            <a:avLst>
              <a:gd name="adj" fmla="val 6000"/>
            </a:avLst>
          </a:prstGeom>
          <a:solidFill>
            <a:srgbClr val="2B2741"/>
          </a:solidFill>
          <a:ln w="9525">
            <a:solidFill>
              <a:srgbClr val="423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756648" y="2057400"/>
            <a:ext cx="1865376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000" b="0" i="0" spc="-100">
                <a:solidFill>
                  <a:srgbClr val="D2CEFD"/>
                </a:solidFill>
                <a:latin typeface="Inter"/>
              </a:rPr>
              <a:t>2,77x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56648" y="2788920"/>
            <a:ext cx="181965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b="1" i="0" spc="120">
                <a:solidFill>
                  <a:srgbClr val="9184D9"/>
                </a:solidFill>
                <a:latin typeface="Inter"/>
              </a:rPr>
              <a:t>CON 4 MINEROS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56648" y="3081528"/>
            <a:ext cx="1819656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2B6CA"/>
                </a:solidFill>
                <a:latin typeface="Inter"/>
              </a:rPr>
              <a:t>escala igual o mejor que el propio hardware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086600" y="3977640"/>
            <a:ext cx="2231136" cy="2011680"/>
          </a:xfrm>
          <a:prstGeom prst="roundRect">
            <a:avLst>
              <a:gd name="adj" fmla="val 6000"/>
            </a:avLst>
          </a:prstGeom>
          <a:solidFill>
            <a:srgbClr val="1D1F2D"/>
          </a:solidFill>
          <a:ln w="9525">
            <a:solidFill>
              <a:srgbClr val="3F4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342631" y="4251960"/>
            <a:ext cx="1865376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300" b="0" i="0" spc="-100">
                <a:solidFill>
                  <a:srgbClr val="F3F5FE"/>
                </a:solidFill>
                <a:latin typeface="Inter"/>
              </a:rPr>
              <a:t>49 s → 2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42631" y="4983480"/>
            <a:ext cx="181965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b="1" i="0" spc="120">
                <a:solidFill>
                  <a:srgbClr val="9184D9"/>
                </a:solidFill>
                <a:latin typeface="Inter"/>
              </a:rPr>
              <a:t>BUG REAL ENCONTRADO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42631" y="5276088"/>
            <a:ext cx="1819656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2B6CA"/>
                </a:solidFill>
                <a:latin typeface="Inter"/>
              </a:rPr>
              <a:t>por las pruebas de carga, no por revisión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500616" y="3977640"/>
            <a:ext cx="2231136" cy="2011680"/>
          </a:xfrm>
          <a:prstGeom prst="roundRect">
            <a:avLst>
              <a:gd name="adj" fmla="val 6000"/>
            </a:avLst>
          </a:prstGeom>
          <a:solidFill>
            <a:srgbClr val="1D1F2D"/>
          </a:solidFill>
          <a:ln w="9525">
            <a:solidFill>
              <a:srgbClr val="3F4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9756648" y="4251960"/>
            <a:ext cx="1865376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300" b="0" i="0" spc="-100">
                <a:solidFill>
                  <a:srgbClr val="F3F5FE"/>
                </a:solidFill>
                <a:latin typeface="Inter"/>
              </a:rPr>
              <a:t>2 veces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56648" y="4983480"/>
            <a:ext cx="181965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b="1" i="0" spc="120">
                <a:solidFill>
                  <a:srgbClr val="9184D9"/>
                </a:solidFill>
                <a:latin typeface="Inter"/>
              </a:rPr>
              <a:t>DESTRUIDA Y RECREADA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56648" y="5276088"/>
            <a:ext cx="1819656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2B6CA"/>
                </a:solidFill>
                <a:latin typeface="Inter"/>
              </a:rPr>
              <a:t>la nube entera, desde cero, con los pipelines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63367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b="1" i="0" spc="150">
                <a:solidFill>
                  <a:srgbClr val="9397AB"/>
                </a:solidFill>
                <a:latin typeface="Inter"/>
              </a:rPr>
              <a:t>VOXCHAIN </a:t>
            </a:r>
            <a:r>
              <a:rPr sz="950" b="0" i="0" spc="150">
                <a:solidFill>
                  <a:srgbClr val="9184D9"/>
                </a:solidFill>
                <a:latin typeface="Inter"/>
              </a:rPr>
              <a:t>REBORN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0" y="6336792"/>
            <a:ext cx="597103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50" b="0" i="0">
                <a:solidFill>
                  <a:srgbClr val="75798C"/>
                </a:solidFill>
                <a:latin typeface="JetBrains Mono"/>
              </a:rPr>
              <a:t>bloque 05   ·   nonce 53.742   ·   </a:t>
            </a:r>
            <a:r>
              <a:rPr sz="950" b="1" i="0">
                <a:solidFill>
                  <a:srgbClr val="D2CEFD"/>
                </a:solidFill>
                <a:latin typeface="JetBrains Mono"/>
              </a:rPr>
              <a:t>0000</a:t>
            </a:r>
            <a:r>
              <a:rPr sz="950" b="0" i="0">
                <a:solidFill>
                  <a:srgbClr val="75798C"/>
                </a:solidFill>
                <a:latin typeface="JetBrains Mono"/>
              </a:rPr>
              <a:t>f475bcb7afb8dcdd…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987551"/>
            <a:ext cx="8046720" cy="6437376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24128" y="1631289"/>
            <a:ext cx="6437376" cy="5149900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19456" y="2275027"/>
            <a:ext cx="4828032" cy="3862425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5" y="2918764"/>
            <a:ext cx="3218688" cy="2574950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89888" y="3562502"/>
            <a:ext cx="1609343" cy="1287475"/>
          </a:xfrm>
          <a:prstGeom prst="ellipse">
            <a:avLst/>
          </a:prstGeom>
          <a:solidFill>
            <a:srgbClr val="9184D9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778240" y="-2157984"/>
            <a:ext cx="5852160" cy="4681728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6" y="-1689811"/>
            <a:ext cx="4681728" cy="3745382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48672" y="-1221638"/>
            <a:ext cx="3511296" cy="2809036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33888" y="-753465"/>
            <a:ext cx="2340864" cy="1872691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19104" y="-285292"/>
            <a:ext cx="1170431" cy="936345"/>
          </a:xfrm>
          <a:prstGeom prst="ellipse">
            <a:avLst/>
          </a:prstGeom>
          <a:solidFill>
            <a:srgbClr val="353B8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 spc="220">
                <a:solidFill>
                  <a:srgbClr val="9184D9"/>
                </a:solidFill>
                <a:latin typeface="Inter"/>
              </a:rPr>
              <a:t>06 · POR QUÉ VOXCHAIN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097280"/>
            <a:ext cx="5120640" cy="2194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4600" b="1" i="0" spc="-100">
                <a:solidFill>
                  <a:srgbClr val="F3F5FE"/>
                </a:solidFill>
                <a:latin typeface="Inter"/>
              </a:rPr>
              <a:t>Proof of Work</a:t>
            </a:r>
          </a:p>
          <a:p>
            <a:pPr algn="l">
              <a:lnSpc>
                <a:spcPct val="95000"/>
              </a:lnSpc>
            </a:pPr>
            <a:r>
              <a:rPr sz="4600" b="0" i="0" spc="-100">
                <a:solidFill>
                  <a:srgbClr val="9184D9"/>
                </a:solidFill>
                <a:latin typeface="Inter"/>
              </a:rPr>
              <a:t>con propósito.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60604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B2B6CA"/>
                </a:solidFill>
                <a:latin typeface="Inter"/>
              </a:rPr>
              <a:t>Cualquier cosa de esta presentación se reproduce con un solo comando.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429000"/>
            <a:ext cx="5029200" cy="1371600"/>
          </a:xfrm>
          <a:prstGeom prst="roundRect">
            <a:avLst>
              <a:gd name="adj" fmla="val 8000"/>
            </a:avLst>
          </a:prstGeom>
          <a:solidFill>
            <a:srgbClr val="0F1019"/>
          </a:solidFill>
          <a:ln w="12700">
            <a:solidFill>
              <a:srgbClr val="423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777240" y="3611880"/>
            <a:ext cx="100584" cy="100584"/>
          </a:xfrm>
          <a:prstGeom prst="ellipse">
            <a:avLst/>
          </a:prstGeom>
          <a:solidFill>
            <a:srgbClr val="E57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978408" y="3611880"/>
            <a:ext cx="100584" cy="100584"/>
          </a:xfrm>
          <a:prstGeom prst="ellipse">
            <a:avLst/>
          </a:prstGeom>
          <a:solidFill>
            <a:srgbClr val="E5C0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1179576" y="3611880"/>
            <a:ext cx="100584" cy="100584"/>
          </a:xfrm>
          <a:prstGeom prst="ellipse">
            <a:avLst/>
          </a:prstGeom>
          <a:solidFill>
            <a:srgbClr val="81C7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7240" y="39319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 i="0">
                <a:solidFill>
                  <a:srgbClr val="9184D9"/>
                </a:solidFill>
                <a:latin typeface="JetBrains Mono"/>
              </a:rPr>
              <a:t>$ </a:t>
            </a:r>
            <a:r>
              <a:rPr sz="1600" b="1" i="0">
                <a:solidFill>
                  <a:srgbClr val="F3F5FE"/>
                </a:solidFill>
                <a:latin typeface="JetBrains Mono"/>
              </a:rPr>
              <a:t>./run.sh 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15968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81C784"/>
                </a:solidFill>
                <a:latin typeface="JetBrains Mono"/>
              </a:rPr>
              <a:t>✓ sistema arriba · ley sellada en ~2,5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6636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600" b="1" i="0">
                <a:solidFill>
                  <a:srgbClr val="F3F5FE"/>
                </a:solidFill>
                <a:latin typeface="Inter"/>
              </a:rPr>
              <a:t>Gracias. </a:t>
            </a:r>
            <a:r>
              <a:rPr sz="2600" b="0" i="0">
                <a:solidFill>
                  <a:srgbClr val="D2CEFD"/>
                </a:solidFill>
                <a:latin typeface="Inter"/>
              </a:rPr>
              <a:t>¿Preguntas?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0" y="1097280"/>
            <a:ext cx="5605272" cy="1481328"/>
          </a:xfrm>
          <a:prstGeom prst="roundRect">
            <a:avLst>
              <a:gd name="adj" fmla="val 8000"/>
            </a:avLst>
          </a:prstGeom>
          <a:solidFill>
            <a:srgbClr val="1D1F2D"/>
          </a:solidFill>
          <a:ln w="9525">
            <a:solidFill>
              <a:srgbClr val="3F4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09359" y="1353312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000" b="0" i="0">
                <a:solidFill>
                  <a:srgbClr val="9184D9"/>
                </a:solidFill>
                <a:latin typeface="JetBrains Mono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1335024"/>
            <a:ext cx="4416552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>
                <a:solidFill>
                  <a:srgbClr val="F3F5FE"/>
                </a:solidFill>
                <a:latin typeface="Inter"/>
              </a:rPr>
              <a:t>Tiene propósito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4416552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B2B6CA"/>
                </a:solidFill>
                <a:latin typeface="Inter"/>
              </a:rPr>
              <a:t>El PoW no es un ejercicio: decide leyes. Cada requisito de la consigna responde a una regla de gobierno.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0" y="2724912"/>
            <a:ext cx="5605272" cy="1481328"/>
          </a:xfrm>
          <a:prstGeom prst="roundRect">
            <a:avLst>
              <a:gd name="adj" fmla="val 8000"/>
            </a:avLst>
          </a:prstGeom>
          <a:solidFill>
            <a:srgbClr val="1D1F2D"/>
          </a:solidFill>
          <a:ln w="9525">
            <a:solidFill>
              <a:srgbClr val="3F4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309359" y="2980944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000" b="0" i="0">
                <a:solidFill>
                  <a:srgbClr val="9184D9"/>
                </a:solidFill>
                <a:latin typeface="JetBrains Mono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2962656"/>
            <a:ext cx="4416552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>
                <a:solidFill>
                  <a:srgbClr val="F3F5FE"/>
                </a:solidFill>
                <a:latin typeface="Inter"/>
              </a:rPr>
              <a:t>Está en producción de verdad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3346704"/>
            <a:ext cx="4416552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B2B6CA"/>
                </a:solidFill>
                <a:latin typeface="Inter"/>
              </a:rPr>
              <a:t>Dos clústers federados, CI/CD sin llaves estáticas, observabilidad. Destruido y recreado dos veces.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35040" y="4352544"/>
            <a:ext cx="5605272" cy="1481328"/>
          </a:xfrm>
          <a:prstGeom prst="roundRect">
            <a:avLst>
              <a:gd name="adj" fmla="val 8000"/>
            </a:avLst>
          </a:prstGeom>
          <a:solidFill>
            <a:srgbClr val="2B2741"/>
          </a:solidFill>
          <a:ln w="9525">
            <a:solidFill>
              <a:srgbClr val="423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09359" y="4608576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000" b="0" i="0">
                <a:solidFill>
                  <a:srgbClr val="9184D9"/>
                </a:solidFill>
                <a:latin typeface="JetBrains Mono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4590288"/>
            <a:ext cx="4416552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>
                <a:solidFill>
                  <a:srgbClr val="F3F5FE"/>
                </a:solidFill>
                <a:latin typeface="Inter"/>
              </a:rPr>
              <a:t>Está medido y es honesto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4974336"/>
            <a:ext cx="4416552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B2B6CA"/>
                </a:solidFill>
                <a:latin typeface="Inter"/>
              </a:rPr>
              <a:t>535 tests, 2,77x de escalado, y un informe con lo que el sistema no hace: Sybil, concentración, ventana única.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3367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b="1" i="0" spc="150">
                <a:solidFill>
                  <a:srgbClr val="9397AB"/>
                </a:solidFill>
                <a:latin typeface="Inter"/>
              </a:rPr>
              <a:t>VOXCHAIN </a:t>
            </a:r>
            <a:r>
              <a:rPr sz="950" b="0" i="0" spc="150">
                <a:solidFill>
                  <a:srgbClr val="9184D9"/>
                </a:solidFill>
                <a:latin typeface="Inter"/>
              </a:rPr>
              <a:t>REBORN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6336792"/>
            <a:ext cx="597103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50" b="0" i="0">
                <a:solidFill>
                  <a:srgbClr val="75798C"/>
                </a:solidFill>
                <a:latin typeface="JetBrains Mono"/>
              </a:rPr>
              <a:t>bloque 06   ·   nonce 179.229   ·   </a:t>
            </a:r>
            <a:r>
              <a:rPr sz="950" b="1" i="0">
                <a:solidFill>
                  <a:srgbClr val="D2CEFD"/>
                </a:solidFill>
                <a:latin typeface="JetBrains Mono"/>
              </a:rPr>
              <a:t>0000</a:t>
            </a:r>
            <a:r>
              <a:rPr sz="950" b="0" i="0">
                <a:solidFill>
                  <a:srgbClr val="75798C"/>
                </a:solidFill>
                <a:latin typeface="JetBrains Mono"/>
              </a:rPr>
              <a:t>6bbc75c3128af137…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